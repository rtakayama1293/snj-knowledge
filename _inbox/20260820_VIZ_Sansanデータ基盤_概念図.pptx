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営業データ基盤の全体像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183880" y="182880"/>
            <a:ext cx="3596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Sansan・メール　→　DL　→　DWH　→　DM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11368735" cy="1133856"/>
          </a:xfrm>
          <a:prstGeom prst="roundRect">
            <a:avLst>
              <a:gd name="adj" fmla="val 4839"/>
            </a:avLst>
          </a:prstGeom>
          <a:solidFill>
            <a:srgbClr val="F2F2F2"/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768096"/>
            <a:ext cx="109115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B2B2B"/>
                </a:solidFill>
              </a:rPr>
              <a:t>サービス層｜外部（自社が保有しない）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B2B2B"/>
                </a:solidFill>
              </a:rPr>
              <a:t>Sansan（年間利用料690千円）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2B2B"/>
                </a:solidFill>
              </a:rPr>
              <a:t>　名刺データ化／企業識別コードの付与／全国企業データベース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B2B2B"/>
                </a:solidFill>
              </a:rPr>
              <a:t>メール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B2B2B"/>
                </a:solidFill>
              </a:rPr>
              <a:t>　営業メールの集約先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938528"/>
            <a:ext cx="9265615" cy="731520"/>
          </a:xfrm>
          <a:prstGeom prst="roundRect">
            <a:avLst>
              <a:gd name="adj" fmla="val 7500"/>
            </a:avLst>
          </a:prstGeom>
          <a:solidFill>
            <a:srgbClr val="EAF1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011680"/>
            <a:ext cx="88084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65A82"/>
                </a:solidFill>
              </a:rPr>
              <a:t>DL｜データレイク（自社リポジトリ）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</a:rPr>
              <a:t>名刺2,480枚／活動記録193件／メール237件　→　原形のまま保持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2779776"/>
            <a:ext cx="9265615" cy="1874520"/>
          </a:xfrm>
          <a:prstGeom prst="roundRect">
            <a:avLst>
              <a:gd name="adj" fmla="val 2927"/>
            </a:avLst>
          </a:prstGeom>
          <a:solidFill>
            <a:srgbClr val="E7F1E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852928"/>
            <a:ext cx="8808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DWH｜データウェアハウス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3108960"/>
            <a:ext cx="4340200" cy="932688"/>
          </a:xfrm>
          <a:prstGeom prst="roundRect">
            <a:avLst>
              <a:gd name="adj" fmla="val 4902"/>
            </a:avLst>
          </a:prstGeom>
          <a:solidFill>
            <a:srgbClr val="AFCEDA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3182112"/>
            <a:ext cx="406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</a:rPr>
              <a:t>一次処理（機械的）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</a:rPr>
              <a:t>・定型部の除去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</a:rPr>
              <a:t>・形態素解析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</a:rPr>
              <a:t>・表記の正規化／重複削除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11416" y="3108960"/>
            <a:ext cx="4340200" cy="932688"/>
          </a:xfrm>
          <a:prstGeom prst="roundRect">
            <a:avLst>
              <a:gd name="adj" fmla="val 4902"/>
            </a:avLst>
          </a:prstGeom>
          <a:solidFill>
            <a:srgbClr val="EDEAF5"/>
          </a:solidFill>
          <a:ln/>
        </p:spPr>
      </p:sp>
      <p:sp>
        <p:nvSpPr>
          <p:cNvPr id="13" name="Text 11"/>
          <p:cNvSpPr/>
          <p:nvPr/>
        </p:nvSpPr>
        <p:spPr>
          <a:xfrm>
            <a:off x="7348576" y="3182112"/>
            <a:ext cx="406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</a:rPr>
              <a:t>二次処理（判断が入る）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</a:rPr>
              <a:t>・タグ辞書の設計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</a:rPr>
              <a:t>・タグの付与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</a:rPr>
              <a:t>・クラスタの意味づけ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4114800"/>
            <a:ext cx="880841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</a:rPr>
              <a:t>名寄せ：Sansanが識別コード付与（1段目）→ 自社が会社単位に統合　485件→478社（2段目）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</a:rPr>
              <a:t>出力：478社・704人・接点1,245件／KWタグ83種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14600" y="4764024"/>
            <a:ext cx="9265615" cy="1700784"/>
          </a:xfrm>
          <a:prstGeom prst="roundRect">
            <a:avLst>
              <a:gd name="adj" fmla="val 3226"/>
            </a:avLst>
          </a:prstGeom>
          <a:solidFill>
            <a:srgbClr val="ECEAF4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4837176"/>
            <a:ext cx="8808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</a:rPr>
              <a:t>DM｜データマート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</a:rPr>
              <a:t>パイプライン管理／セリングアイデア管理への供給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5330952"/>
            <a:ext cx="100504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5330952"/>
            <a:ext cx="100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和文社名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57968" y="5330952"/>
            <a:ext cx="1005040" cy="566928"/>
          </a:xfrm>
          <a:prstGeom prst="roundRect">
            <a:avLst>
              <a:gd name="adj" fmla="val 8065"/>
            </a:avLst>
          </a:prstGeom>
          <a:solidFill>
            <a:srgbClr val="3E7C92"/>
          </a:solidFill>
          <a:ln/>
        </p:spPr>
      </p:sp>
      <p:sp>
        <p:nvSpPr>
          <p:cNvPr id="20" name="Text 18"/>
          <p:cNvSpPr/>
          <p:nvPr/>
        </p:nvSpPr>
        <p:spPr>
          <a:xfrm>
            <a:off x="3857968" y="5330952"/>
            <a:ext cx="100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商品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72736" y="5330952"/>
            <a:ext cx="1005040" cy="566928"/>
          </a:xfrm>
          <a:prstGeom prst="roundRect">
            <a:avLst>
              <a:gd name="adj" fmla="val 8065"/>
            </a:avLst>
          </a:prstGeom>
          <a:solidFill>
            <a:srgbClr val="3E7C92"/>
          </a:solidFill>
          <a:ln/>
        </p:spPr>
      </p:sp>
      <p:sp>
        <p:nvSpPr>
          <p:cNvPr id="22" name="Text 20"/>
          <p:cNvSpPr/>
          <p:nvPr/>
        </p:nvSpPr>
        <p:spPr>
          <a:xfrm>
            <a:off x="4972736" y="5330952"/>
            <a:ext cx="100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種別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7504" y="5330952"/>
            <a:ext cx="1005040" cy="566928"/>
          </a:xfrm>
          <a:prstGeom prst="roundRect">
            <a:avLst>
              <a:gd name="adj" fmla="val 8065"/>
            </a:avLst>
          </a:prstGeom>
          <a:solidFill>
            <a:srgbClr val="D9D9D9"/>
          </a:solidFill>
          <a:ln/>
        </p:spPr>
      </p:sp>
      <p:sp>
        <p:nvSpPr>
          <p:cNvPr id="24" name="Text 22"/>
          <p:cNvSpPr/>
          <p:nvPr/>
        </p:nvSpPr>
        <p:spPr>
          <a:xfrm>
            <a:off x="6087504" y="5330952"/>
            <a:ext cx="100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B2B"/>
                </a:solidFill>
              </a:rPr>
              <a:t>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</a:rPr>
              <a:t>確度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02272" y="5330952"/>
            <a:ext cx="1005040" cy="566928"/>
          </a:xfrm>
          <a:prstGeom prst="roundRect">
            <a:avLst>
              <a:gd name="adj" fmla="val 8065"/>
            </a:avLst>
          </a:prstGeom>
          <a:solidFill>
            <a:srgbClr val="D9D9D9"/>
          </a:solidFill>
          <a:ln/>
        </p:spPr>
      </p:sp>
      <p:sp>
        <p:nvSpPr>
          <p:cNvPr id="26" name="Text 24"/>
          <p:cNvSpPr/>
          <p:nvPr/>
        </p:nvSpPr>
        <p:spPr>
          <a:xfrm>
            <a:off x="7202272" y="5330952"/>
            <a:ext cx="100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B2B"/>
                </a:solidFill>
              </a:rPr>
              <a:t>F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</a:rPr>
              <a:t>受注月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17040" y="5330952"/>
            <a:ext cx="1005040" cy="566928"/>
          </a:xfrm>
          <a:prstGeom prst="roundRect">
            <a:avLst>
              <a:gd name="adj" fmla="val 8065"/>
            </a:avLst>
          </a:prstGeom>
          <a:solidFill>
            <a:srgbClr val="D9D9D9"/>
          </a:solidFill>
          <a:ln/>
        </p:spPr>
      </p:sp>
      <p:sp>
        <p:nvSpPr>
          <p:cNvPr id="28" name="Text 26"/>
          <p:cNvSpPr/>
          <p:nvPr/>
        </p:nvSpPr>
        <p:spPr>
          <a:xfrm>
            <a:off x="8317040" y="5330952"/>
            <a:ext cx="100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B2B"/>
                </a:solidFill>
              </a:rPr>
              <a:t>G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</a:rPr>
              <a:t>納品月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431807" y="5330952"/>
            <a:ext cx="1005040" cy="566928"/>
          </a:xfrm>
          <a:prstGeom prst="roundRect">
            <a:avLst>
              <a:gd name="adj" fmla="val 8065"/>
            </a:avLst>
          </a:prstGeom>
          <a:solidFill>
            <a:srgbClr val="D9D9D9"/>
          </a:solidFill>
          <a:ln/>
        </p:spPr>
      </p:sp>
      <p:sp>
        <p:nvSpPr>
          <p:cNvPr id="30" name="Text 28"/>
          <p:cNvSpPr/>
          <p:nvPr/>
        </p:nvSpPr>
        <p:spPr>
          <a:xfrm>
            <a:off x="9431807" y="5330952"/>
            <a:ext cx="100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B2B"/>
                </a:solidFill>
              </a:rPr>
              <a:t>H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</a:rPr>
              <a:t>金額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546575" y="5330952"/>
            <a:ext cx="100504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10546575" y="5330952"/>
            <a:ext cx="100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I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根拠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0" y="6007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営業がそのまま入力できる形で提供する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59775" y="606247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8460943" y="60076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供給可能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357055" y="606247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3E7C92"/>
          </a:solidFill>
          <a:ln/>
        </p:spPr>
      </p:sp>
      <p:sp>
        <p:nvSpPr>
          <p:cNvPr id="37" name="Text 35"/>
          <p:cNvSpPr/>
          <p:nvPr/>
        </p:nvSpPr>
        <p:spPr>
          <a:xfrm>
            <a:off x="9558223" y="60076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一部供給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454335" y="606247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/>
        </p:spPr>
      </p:sp>
      <p:sp>
        <p:nvSpPr>
          <p:cNvPr id="39" name="Text 37"/>
          <p:cNvSpPr/>
          <p:nvPr/>
        </p:nvSpPr>
        <p:spPr>
          <a:xfrm>
            <a:off x="10655503" y="60076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1737360"/>
            <a:ext cx="384048" cy="4727448"/>
          </a:xfrm>
          <a:prstGeom prst="downArrow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3515868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Sansanが止まると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DL・DWH・DM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が全部止まる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2026-08-20T03:34:38Z</dcterms:created>
  <dcterms:modified xsi:type="dcterms:W3CDTF">2026-08-20T03:34:38Z</dcterms:modified>
</cp:coreProperties>
</file>
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shipper の語義は未確定。両論併記のまま、代金の流れを聞いて切り分ける。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免許は保有済み（ビール以外）。契約制約2件は先方の回答を待たずに動かせる。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2軸に分けると、読みが未確定でも選択肢を提示できる。①が本命。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先方への質問票。E1′の成否は「残りの蔵を当社に任せてもらえるか」で決まる。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「shipper」が指すもの — 2つの読み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217152" y="301752"/>
            <a:ext cx="2514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26-09-01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31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theSFC（ザ・シーフードカンパニー・既存客）／原文：We need a Japanese shipper that is willing to consolidate 4-5 breweries' products and clear export customs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719072"/>
            <a:ext cx="5440680" cy="3611880"/>
          </a:xfrm>
          <a:prstGeom prst="rect">
            <a:avLst/>
          </a:prstGeom>
          <a:solidFill>
            <a:srgbClr val="FBF3F1"/>
          </a:solidFill>
          <a:ln w="12700">
            <a:solidFill>
              <a:srgbClr val="FBF3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78992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読みA　輸出者（荷主・売主）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0817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商流を束ねて自ら売る会社を求めている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60704" y="1700784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文の構造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60704" y="1938528"/>
            <a:ext cx="4636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We have an import agent ▶ But we need a Japanese shipper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60704" y="2377440"/>
            <a:ext cx="46360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直前の輸入側代理店と対をなす。輸入代理店に対応する「輸出側のカウンターパート」を求める構造になっている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60704" y="2990088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"willing to" という言い回し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" y="3227832"/>
            <a:ext cx="46360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単なる作業の外注なら「やってくれる意思のある会社」という言い方にはなりにくい。誰も引き受けたがらない役割を指す響き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060704" y="3840480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最も強い根拠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60704" y="4078224"/>
            <a:ext cx="463600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集荷・混載・輸出通関の代行だけなら、日本のフォワーダーは普通に引き受ける。高い安いの話にはなっても「引き受けてくれる会社が見つからない」にはなりにくい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4910328"/>
            <a:ext cx="5038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この読みなら → 当社は免許も商流も既に持っている。条件を満たす数少ない会社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1719072"/>
            <a:ext cx="5440680" cy="3611880"/>
          </a:xfrm>
          <a:prstGeom prst="rect">
            <a:avLst/>
          </a:prstGeom>
          <a:solidFill>
            <a:srgbClr val="F0F5F7"/>
          </a:solidFill>
          <a:ln w="12700">
            <a:solidFill>
              <a:srgbClr val="F0F5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3640" y="1078992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F6B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読みB　船積を手配する側（FW・乙仲）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140817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安く運んでくれる物流会社を求めている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867144" y="1700784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直後の文脈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67144" y="1938528"/>
            <a:ext cx="4636008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隔週の定温リーファー定期便 ▶ 高すぎる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867144" y="2180844"/>
            <a:ext cx="46360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定期便のスペースを持つのは船社かNVOCC・フォワーダー。同じ文脈で代わりを探しているなら、shipper もその同類と読める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867144" y="2793492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clear export customs の読み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867144" y="3031236"/>
            <a:ext cx="46360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通関業者・フォワーダーの代行業務として、ごく普通の言い方。輸出者そのものになることを必ずしも意味しない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867144" y="3643884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締めの一文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867144" y="3881628"/>
            <a:ext cx="4636008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We need an affordable option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867144" y="4123944"/>
            <a:ext cx="463600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価格の話＝サービス調達の話であって、役割の話ではない。「until we solve this we cannot move ahead」も運賃の話と読める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464808" y="4910328"/>
            <a:ext cx="5038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この読みなら → 必要なのは安いFWの発掘と、蔵側が輸出者を務められる体制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5568696"/>
            <a:ext cx="11274552" cy="923544"/>
          </a:xfrm>
          <a:prstGeom prst="rect">
            <a:avLst/>
          </a:prstGeom>
          <a:solidFill>
            <a:srgbClr val="F4F3F1"/>
          </a:solidFill>
          <a:ln w="12700">
            <a:solidFill>
              <a:srgbClr val="F4F3F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" y="56418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決め手の質問 — 代金の流れを聞けば1問で確定する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591616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各蔵への商品代金は、誰が支払う想定か。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58368" y="615391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補助質問：「高すぎる」と言っている日本企業は、運送会社なのか、酒を買って売る商社なのか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983480" y="5916168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theSFC が各蔵へ直接支払う　▶　各蔵が輸出者。求めているのは物流会社（読みB）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983480" y="6153912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日本側の1社にまとめて支払う　▶　その1社が輸出者（読みA）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58368" y="6547104"/>
            <a:ext cx="10881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どちらの読みでも動かない原則：輸出者になれるのは貨物の所有者＝売主であり、フォワーダーは名義を貸せない。通関の名義は商流に従属する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当社の持ち駒と、着手前に潰す2件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217152" y="301752"/>
            <a:ext cx="2514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26-09-01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31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商流：各蔵（4〜5社）→ 新日本海商事 → theSFC グループ内 輸入代理店 → シンガポール市場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719072"/>
            <a:ext cx="5440680" cy="5038344"/>
          </a:xfrm>
          <a:prstGeom prst="rect">
            <a:avLst/>
          </a:prstGeom>
          <a:solidFill>
            <a:srgbClr val="FBF3F1"/>
          </a:solidFill>
          <a:ln w="12700">
            <a:solidFill>
              <a:srgbClr val="FBF3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78992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当社側で固まっていること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0817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すでに条件を満たしている部分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60704" y="1700784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当社が売り手として商流に入る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60704" y="1938528"/>
            <a:ext cx="4636008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大和川酒造店・榮川酒造（天鏡） ▶ 新日本海商事 ▶ theSFC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60704" y="2180844"/>
            <a:ext cx="463600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当社が輸出者（B/L上のShipper・輸出申告名義）になることは前提であって、選択肢ではない。</a:t>
            </a:r>
            <a:endParaRPr lang="en-US" sz="10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「引き受けるか否か」は論点から外れ、どこまで載せるかだけが残る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60704" y="2980944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輸出酒類卸売業免許 — 保有済み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" y="3218688"/>
            <a:ext cx="4636008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清酒ほか 対応可　／　ビール 対象外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60704" y="3461004"/>
            <a:ext cx="46360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取得待ち（標準処理期間およそ2か月）は発生しない。免許を持たない同業にとっては、ここが参入障壁になる</a:t>
            </a:r>
            <a:endParaRPr lang="en-US" sz="10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先方は breweries と表記。ビール醸造所が混じる場合はその分が免許の対象外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060704" y="4448556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先方の輸入体制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60704" y="4686300"/>
            <a:ext cx="46360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グループ内の輸入代理店は確保済み。シンガポール側の受け皿は、今回の詰まりの原因ではない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060704" y="5298948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既存の輸出実績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60704" y="5536692"/>
            <a:ext cx="463600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LIYU／CHUYU（台湾）、ダルマ（アイルランド）、日新堂経由の米国向け商談。いずれもEX-works・FOB建て</a:t>
            </a:r>
            <a:endParaRPr lang="en-US" sz="10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今回はそこから一段踏み込み、混載を組成する側に回る話になる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6336792"/>
            <a:ext cx="5038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先方が探している「輸出者になれる日本企業」の条件を、当社は既に満たしている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1719072"/>
            <a:ext cx="5440680" cy="5038344"/>
          </a:xfrm>
          <a:prstGeom prst="rect">
            <a:avLst/>
          </a:prstGeom>
          <a:solidFill>
            <a:srgbClr val="F0F5F7"/>
          </a:solidFill>
          <a:ln w="12700">
            <a:solidFill>
              <a:srgbClr val="F0F5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1078992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F6B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着手前に潰す2件 — 社内の契約確認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140817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そもそも売ってよいのかが未確認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867144" y="1700784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天鏡（榮川酒造）— 売買契約の付則合意書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867144" y="1938528"/>
            <a:ext cx="4636008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2026-08-21 杉田さん「EEZOなどでの取り扱いはダメです」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67144" y="2180844"/>
            <a:ext cx="463600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この制約は恒久（eezo-ops#102、closeでは失効しない）。記録は「EEZOなど」までで、海外BtoB・輸出が含まれるかが不明</a:t>
            </a:r>
            <a:endParaRPr lang="en-US" sz="10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付則合意書の原本で、販売チャネル・地域の制限を確認したい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867144" y="2980944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大和川 — ダルマ（アイルランド）独占条項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867144" y="3218688"/>
            <a:ext cx="4636008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独占はアイルランド限定か ▶ 文書確認が2026-04から未了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67144" y="3461004"/>
            <a:ext cx="463600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台湾（CHUYU/LIYU）で出た論点が、SG向けでそのまま再発する。SIポートフォリオv5のアクション6として積み残しのまま</a:t>
            </a:r>
            <a:endParaRPr lang="en-US" sz="10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同じ確認を2度先送りしたくない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867144" y="4261104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黒だった場合の代替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867144" y="4498848"/>
            <a:ext cx="46360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名倉山・ほまれ・曙酒造で差し替える余地がある。ここが黒だと商品構成そのものが組み替えになる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867144" y="5111496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残り2〜3蔵も同じ点検が要る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867144" y="5349240"/>
            <a:ext cx="46360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他社蔵にもSG向けの既存代理店・独占条項がありうる。蔵名が判明し次第、snj_sake の「既存NG国」と契約書で点検する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464808" y="6336792"/>
            <a:ext cx="5038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物流を詰める前に確認する。着手順としては最優先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打ち手 — 輸出者と物流手配は、独立に選べる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217152" y="301752"/>
            <a:ext cx="2514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26-09-01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31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「誰が輸出者か」と「誰が運賃を握るか」を分けておけば、shipper の読みが確定していなくても組み立てられる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440680" cy="1225296"/>
          </a:xfrm>
          <a:prstGeom prst="rect">
            <a:avLst/>
          </a:prstGeom>
          <a:solidFill>
            <a:srgbClr val="FBF3F1"/>
          </a:solidFill>
          <a:ln w="12700">
            <a:solidFill>
              <a:srgbClr val="FBF3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188720"/>
            <a:ext cx="5038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軸1　輸出者（B/L上のShipper・申告名義）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48132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481328"/>
            <a:ext cx="4599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当社が4〜5蔵すべて分を仕入れて売る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74650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E2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746504"/>
            <a:ext cx="4599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当社は自社2蔵のみ。他は各蔵または別の輸出者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01168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E3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011680"/>
            <a:ext cx="4599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既存の酒類輸出商社に全部を委ねる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1097280"/>
            <a:ext cx="5440680" cy="1225296"/>
          </a:xfrm>
          <a:prstGeom prst="rect">
            <a:avLst/>
          </a:prstGeom>
          <a:solidFill>
            <a:srgbClr val="F0F5F7"/>
          </a:solidFill>
          <a:ln w="12700">
            <a:solidFill>
              <a:srgbClr val="F0F5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1188720"/>
            <a:ext cx="5038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6B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軸2　物流手配（集荷・混載・船腹）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64808" y="148132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F1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1481328"/>
            <a:ext cx="4599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当社が指定FWで手配し、CFR/CIFで売る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64808" y="174650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F2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1746504"/>
            <a:ext cx="4599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当社はFOB/FCAまで。先方指定FWが引き取る（着払い）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64808" y="201168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F3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2011680"/>
            <a:ext cx="4599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先方が日本のFWと直接契約。当社は貨物を渡すだけ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2542032"/>
            <a:ext cx="5440680" cy="16276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26426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組合せ①　E1 × F1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743200" y="2642616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読みA・B どちらにも効く／本命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58368" y="2880360"/>
            <a:ext cx="5038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当社が輸出者も運賃も握る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3163824"/>
            <a:ext cx="5038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F6E3D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どちらの読みでも先方の要望を満たす唯一の形。当社が既に輸出者になる以上、蔵を足す限界費用は小さい（輸出申告1本・コンテナ1本・書類1セットは変わらない）。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F6E3D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運賃を収益に乗せる余地も出る。運賃変動と為替は当社リスク。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63640" y="2542032"/>
            <a:ext cx="5440680" cy="1627632"/>
          </a:xfrm>
          <a:prstGeom prst="rect">
            <a:avLst/>
          </a:prstGeom>
          <a:solidFill>
            <a:srgbClr val="FBF3F1"/>
          </a:solidFill>
          <a:ln w="12700">
            <a:solidFill>
              <a:srgbClr val="FBF3F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64808" y="26426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組合せ②　E1 × F2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549640" y="2642616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読みAへの最小回答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464808" y="2880360"/>
            <a:ext cx="5038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当社が輸出者、運賃は先方持ち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464808" y="3163824"/>
            <a:ext cx="5038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求められているのが「輸出者」ならこれで足りる。当社は運賃リスクを負わない。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ただし先方に安いレートがなければ affordable は解決しないので、①へ進む前提の暫定形。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315968"/>
            <a:ext cx="5440680" cy="1627632"/>
          </a:xfrm>
          <a:prstGeom prst="rect">
            <a:avLst/>
          </a:prstGeom>
          <a:solidFill>
            <a:srgbClr val="F0F5F7"/>
          </a:solidFill>
          <a:ln w="12700">
            <a:solidFill>
              <a:srgbClr val="F0F5F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8368" y="44165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組合せ③　E2 × F1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2743200" y="4416552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読みBへの回答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58368" y="4654296"/>
            <a:ext cx="5038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自社2蔵の輸出者、コンテナは当社が仕立てる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4937760"/>
            <a:ext cx="5038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他社蔵は各自が輸出者として申告し、貨物だけ当社手配のコンテナに相積みする。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インボイスと申告は割れるが、混載と運賃の集約という効果は出る。他社蔵が自力で輸出者を務められる場合に成立。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63640" y="4315968"/>
            <a:ext cx="5440680" cy="1627632"/>
          </a:xfrm>
          <a:prstGeom prst="rect">
            <a:avLst/>
          </a:prstGeom>
          <a:solidFill>
            <a:srgbClr val="F4F3F1"/>
          </a:solidFill>
          <a:ln w="12700">
            <a:solidFill>
              <a:srgbClr val="F4F3F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64808" y="44165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組合せ④　E3 × F3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549640" y="4416552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退避策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6464808" y="4654296"/>
            <a:ext cx="5038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既存の酒類輸出商社に委ねる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464808" y="4937760"/>
            <a:ext cx="5038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最速だが当社の取り分が薄く、既存客を他社に渡す判断になる。</a:t>
            </a:r>
            <a:endParaRPr lang="en-US" sz="1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当社が大和川・天鏡を売る前提とは両立しにくい。先方のスケジュールがどうしても待てない場合のみ。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58368" y="6062472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E1′　残りの蔵も当社取扱蔵（名倉山・ほまれ・曙酒造）で埋めれば、4〜5蔵すべてが自社商流になる。組合せ①と重ねたときが最も強い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6336792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「安い」の正体　安い選択肢は多くの場合「温度管理を落とす選択肢」と同義。相見積3社は、その定期便の価格が妥当かを先方に示すためでもある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この後の進め方と、先方に確認したいこと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217152" y="301752"/>
            <a:ext cx="2514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26-09-01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31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1と2が埋まるまで、3・4には進めない。1は先方の回答を待たずに動かせる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719072"/>
            <a:ext cx="5440680" cy="5038344"/>
          </a:xfrm>
          <a:prstGeom prst="rect">
            <a:avLst/>
          </a:prstGeom>
          <a:solidFill>
            <a:srgbClr val="FBF3F1"/>
          </a:solidFill>
          <a:ln w="12700">
            <a:solidFill>
              <a:srgbClr val="FBF3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78992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この後の進み方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0817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順序が意味を持つ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1728216"/>
            <a:ext cx="292608" cy="29260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1728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60704" y="1700784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読みの切り分け＋契約制約の確認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60704" y="1938528"/>
            <a:ext cx="46360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代金の流れを聞いて読みA／Bを確定する。並行して天鏡・大和川の契約を確認し、商品構成を固める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2578608"/>
            <a:ext cx="292608" cy="29260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578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60704" y="2551176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貨物明細の確定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60704" y="2788920"/>
            <a:ext cx="46360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蔵×SKU×ケース数×入数×容積×温度帯を1枚のシートに。FW見積の必須入力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" y="3429000"/>
            <a:ext cx="292608" cy="29260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429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60704" y="3401568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FW相見積 3社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60704" y="3639312"/>
            <a:ext cx="46360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大手系・酒類専門系・地場乙仲。定温案と、火入れ限定のドライ＋断熱ライナー案を両方取る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" y="4279392"/>
            <a:ext cx="292608" cy="29260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4279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60704" y="4251960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組合せと建て値の決定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60704" y="4489704"/>
            <a:ext cx="46360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①〜④のどれで出すか。初回はFOB＋着払いで実勢運賃を実測し、CFR Singapore へ移行する案を推す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58368" y="6336792"/>
            <a:ext cx="5038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粗利率15%下限、FOBコスト（工場出し→FOB）約5%。CFR化する場合はここに海上運賃・保険を積む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1719072"/>
            <a:ext cx="5440680" cy="5038344"/>
          </a:xfrm>
          <a:prstGeom prst="rect">
            <a:avLst/>
          </a:prstGeom>
          <a:solidFill>
            <a:srgbClr val="F0F5F7"/>
          </a:solidFill>
          <a:ln w="12700">
            <a:solidFill>
              <a:srgbClr val="F0F5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63640" y="1078992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F6B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先方に確認したいこと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140817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これが揃うまでFWに投げても見積は出ない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867144" y="1700784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まず読みの切り分け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867144" y="1938528"/>
            <a:ext cx="463600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各蔵への商品代金は、誰が支払う想定か</a:t>
            </a:r>
            <a:endParaRPr lang="en-US" sz="10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「高すぎる」と言っている日本企業は、運送会社なのか、酒を買って売る商社なのか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867144" y="2738628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貨物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867144" y="2976372"/>
            <a:ext cx="46360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蔵名・銘柄・SKU（当社取扱／他社取扱の別。ビール醸造所が含まれないかも）</a:t>
            </a:r>
            <a:endParaRPr lang="en-US" sz="10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ケース数・入数・容量（720ml／1.8L）、総パレット数</a:t>
            </a:r>
            <a:endParaRPr lang="en-US" sz="10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火入れか生か — 温度帯を決める最大の要因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867144" y="3963924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867144" y="4201668"/>
            <a:ext cx="463600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希望頻度（初回のみ／隔週／月次／四半期）</a:t>
            </a:r>
            <a:endParaRPr lang="en-US" sz="10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"too expensive" の具体額 — 誰の何の見積で、いくらだったか</a:t>
            </a:r>
            <a:endParaRPr lang="en-US" sz="10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狙う価格帯（想定小売）とターゲット業態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867144" y="5001768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体制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867144" y="5239512"/>
            <a:ext cx="46360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残り2〜3蔵は先方が決めているのか、当社に選定を任せるのか</a:t>
            </a:r>
            <a:endParaRPr lang="en-US" sz="10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SG側倉庫の温度帯（常温か定温か）、輸入者（IOR）は誰か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464808" y="6336792"/>
            <a:ext cx="5038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6B7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本紙は先方ヒアリング前の当社側整理。仮説は差し替えの対象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新日本海商事</dc:creator>
  <cp:lastModifiedBy>新日本海商事</cp:lastModifiedBy>
  <cp:revision>1</cp:revision>
  <dcterms:created xsi:type="dcterms:W3CDTF">2026-09-01T05:02:38Z</dcterms:created>
  <dcterms:modified xsi:type="dcterms:W3CDTF">2026-09-01T05:02:38Z</dcterms:modified>
</cp:coreProperties>
</file>
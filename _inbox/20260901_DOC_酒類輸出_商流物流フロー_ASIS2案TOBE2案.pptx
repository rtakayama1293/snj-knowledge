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shipper の読みが2通りあるため AS-IS も2通り。読みAなら商流を束ねる者が不在、読みBなら物流は束ねられるが高い。TO-BE はそれぞれへの答え。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プレイヤーで見る商流と物流 — AS-IS 2案 と TO-BE 2案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30175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26-09-01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シンガポール向け 日本酒4〜5蔵の混載輸出／theSFC案件　　shipper の読みが2通りのため AS-IS も2通り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20624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950976" y="996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商流（売買・請求）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31720" y="1097280"/>
            <a:ext cx="420624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825496" y="996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物流（モノの流れ）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996696"/>
            <a:ext cx="38404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BDB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754880" y="9966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4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点線の枠＝そのプレイヤーが不在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9966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輸出通関の枠内に「申告が何本になるか」を記載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1274552" cy="1225296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14447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読みA ｜ AS-IS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1636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束ねる売り手がいない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19202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shipper＝輸出者と読む場合。各蔵とtheSFCの間に商流を束ねる者がいない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0" y="1700784"/>
            <a:ext cx="461772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023360" y="1517904"/>
            <a:ext cx="4617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4〜5本 が並ぶ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0" y="1700784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023360" y="2414016"/>
            <a:ext cx="324612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023360" y="253288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各蔵が個別に出荷。小口のまま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458200" y="2414016"/>
            <a:ext cx="17830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834640" y="1828800"/>
            <a:ext cx="1143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34640" y="1874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各蔵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862072" y="2048256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4〜5社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51960" y="1828800"/>
            <a:ext cx="1325880" cy="457200"/>
          </a:xfrm>
          <a:prstGeom prst="rect">
            <a:avLst/>
          </a:prstGeom>
          <a:solidFill>
            <a:srgbClr val="F2F1EF"/>
          </a:solidFill>
          <a:ln w="12700">
            <a:solidFill>
              <a:srgbClr val="C4BDB6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4251960" y="18745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94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新日本海商事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279392" y="204825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9B94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不在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852160" y="1828800"/>
            <a:ext cx="1188720" cy="457200"/>
          </a:xfrm>
          <a:prstGeom prst="rect">
            <a:avLst/>
          </a:prstGeom>
          <a:solidFill>
            <a:srgbClr val="F2F1EF"/>
          </a:solidFill>
          <a:ln w="12700">
            <a:solidFill>
              <a:srgbClr val="C4BDB6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5852160" y="1874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94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フォワーダー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879592" y="204825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9B94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不在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315200" y="182880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0" y="1874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輸出通関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342632" y="204825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申告 4〜5本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686800" y="182880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6800" y="18745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輸入代理店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714232" y="204825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theSFCグループ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0287000" y="182880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87000" y="18745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theSFC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0314432" y="204825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シンガポール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" y="2670048"/>
            <a:ext cx="11274552" cy="1225296"/>
          </a:xfrm>
          <a:prstGeom prst="rect">
            <a:avLst/>
          </a:prstGeom>
          <a:solidFill>
            <a:srgbClr val="FBF3F1"/>
          </a:solidFill>
          <a:ln w="12700">
            <a:solidFill>
              <a:srgbClr val="FBF3F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" y="27432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読みA ｜ TO-BE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" y="29352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当社が商流ごと束ねる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21792" y="321868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当社が4〜5蔵すべてを買って売る。輸出者は当社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023360" y="2999232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3543300" y="28163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23560" y="2999232"/>
            <a:ext cx="301752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5623560" y="28163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1本にまとまる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058400" y="2999232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023360" y="3712464"/>
            <a:ext cx="17830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4023360" y="383133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集荷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086600" y="3712464"/>
            <a:ext cx="1828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6606540" y="38313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混載 1コンテナ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458200" y="3712464"/>
            <a:ext cx="17830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2834640" y="3127248"/>
            <a:ext cx="1143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834640" y="31729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各蔵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2862072" y="3346704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4〜5社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251960" y="3127248"/>
            <a:ext cx="132588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251960" y="31729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新日本海商事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4279392" y="3346704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輸出者・売主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852160" y="3127248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852160" y="3172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フォワーダー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5879592" y="334670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当社指定・1コンテナ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15200" y="3127248"/>
            <a:ext cx="109728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315200" y="3172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輸出通関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7342632" y="33467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申告 1本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686800" y="3127248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686800" y="31729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輸入代理店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8714232" y="3346704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theSFCグループ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287000" y="3127248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0287000" y="31729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theSFC</a:t>
            </a:r>
            <a:endParaRPr 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10314432" y="3346704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シンガポール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57200" y="3968496"/>
            <a:ext cx="11274552" cy="1225296"/>
          </a:xfrm>
          <a:prstGeom prst="rect">
            <a:avLst/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21792" y="40416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読みB ｜ AS-IS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621792" y="4233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運ぶ人はいるが高い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621792" y="451713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shipper＝物流手配者と読む場合。定温リーファー定期便の1社しか手が挙がらない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023360" y="4297680"/>
            <a:ext cx="461772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77" name="Text 75"/>
          <p:cNvSpPr txBox="1"/>
          <p:nvPr/>
        </p:nvSpPr>
        <p:spPr>
          <a:xfrm>
            <a:off x="4023360" y="4114800"/>
            <a:ext cx="4617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4〜5本 が並ぶ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0058400" y="4297680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4023360" y="5010912"/>
            <a:ext cx="17830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80" name="Text 78"/>
          <p:cNvSpPr txBox="1"/>
          <p:nvPr/>
        </p:nvSpPr>
        <p:spPr>
          <a:xfrm>
            <a:off x="4023360" y="51297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集荷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086600" y="5010912"/>
            <a:ext cx="1828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82" name="Text 80"/>
          <p:cNvSpPr txBox="1"/>
          <p:nvPr/>
        </p:nvSpPr>
        <p:spPr>
          <a:xfrm>
            <a:off x="6606540" y="512978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混載はできる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458200" y="5010912"/>
            <a:ext cx="17830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2834640" y="4425696"/>
            <a:ext cx="1143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2834640" y="44714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各蔵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2862072" y="4645152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4〜5社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251960" y="4425696"/>
            <a:ext cx="1325880" cy="457200"/>
          </a:xfrm>
          <a:prstGeom prst="rect">
            <a:avLst/>
          </a:prstGeom>
          <a:solidFill>
            <a:srgbClr val="F2F1EF"/>
          </a:solidFill>
          <a:ln w="12700">
            <a:solidFill>
              <a:srgbClr val="C4BDB6"/>
            </a:solidFill>
            <a:prstDash val="dash"/>
          </a:ln>
        </p:spPr>
      </p:sp>
      <p:sp>
        <p:nvSpPr>
          <p:cNvPr id="88" name="Text 86"/>
          <p:cNvSpPr txBox="1"/>
          <p:nvPr/>
        </p:nvSpPr>
        <p:spPr>
          <a:xfrm>
            <a:off x="4251960" y="447141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94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新日本海商事</a:t>
            </a:r>
            <a:endParaRPr lang="en-US" sz="850" dirty="0"/>
          </a:p>
        </p:txBody>
      </p:sp>
      <p:sp>
        <p:nvSpPr>
          <p:cNvPr id="89" name="Text 87"/>
          <p:cNvSpPr txBox="1"/>
          <p:nvPr/>
        </p:nvSpPr>
        <p:spPr>
          <a:xfrm>
            <a:off x="4279392" y="464515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9B94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不在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852160" y="4425696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5852160" y="44714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フォワーダー</a:t>
            </a:r>
            <a:endParaRPr lang="en-US" sz="850" dirty="0"/>
          </a:p>
        </p:txBody>
      </p:sp>
      <p:sp>
        <p:nvSpPr>
          <p:cNvPr id="92" name="Text 90"/>
          <p:cNvSpPr txBox="1"/>
          <p:nvPr/>
        </p:nvSpPr>
        <p:spPr>
          <a:xfrm>
            <a:off x="5879592" y="464515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定温リーファー定期便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7315200" y="4425696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315200" y="44714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輸出通関</a:t>
            </a:r>
            <a:endParaRPr lang="en-US" sz="850" dirty="0"/>
          </a:p>
        </p:txBody>
      </p:sp>
      <p:sp>
        <p:nvSpPr>
          <p:cNvPr id="95" name="Text 93"/>
          <p:cNvSpPr txBox="1"/>
          <p:nvPr/>
        </p:nvSpPr>
        <p:spPr>
          <a:xfrm>
            <a:off x="7342632" y="464515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申告 4〜5本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8686800" y="4425696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8686800" y="447141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輸入代理店</a:t>
            </a:r>
            <a:endParaRPr lang="en-US" sz="850" dirty="0"/>
          </a:p>
        </p:txBody>
      </p:sp>
      <p:sp>
        <p:nvSpPr>
          <p:cNvPr id="98" name="Text 96"/>
          <p:cNvSpPr txBox="1"/>
          <p:nvPr/>
        </p:nvSpPr>
        <p:spPr>
          <a:xfrm>
            <a:off x="8714232" y="464515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theSFCグループ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10287000" y="4425696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0287000" y="44714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theSFC</a:t>
            </a:r>
            <a:endParaRPr lang="en-US" sz="850" dirty="0"/>
          </a:p>
        </p:txBody>
      </p:sp>
      <p:sp>
        <p:nvSpPr>
          <p:cNvPr id="101" name="Text 99"/>
          <p:cNvSpPr txBox="1"/>
          <p:nvPr/>
        </p:nvSpPr>
        <p:spPr>
          <a:xfrm>
            <a:off x="10314432" y="464515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シンガポール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57200" y="5266944"/>
            <a:ext cx="11274552" cy="1225296"/>
          </a:xfrm>
          <a:prstGeom prst="rect">
            <a:avLst/>
          </a:prstGeom>
          <a:solidFill>
            <a:srgbClr val="F0F5F7"/>
          </a:solidFill>
          <a:ln w="12700">
            <a:solidFill>
              <a:srgbClr val="F0F5F7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621792" y="534009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読みB ｜ TO-BE</a:t>
            </a:r>
            <a:endParaRPr lang="en-US" sz="850" dirty="0"/>
          </a:p>
        </p:txBody>
      </p:sp>
      <p:sp>
        <p:nvSpPr>
          <p:cNvPr id="104" name="Text 102"/>
          <p:cNvSpPr txBox="1"/>
          <p:nvPr/>
        </p:nvSpPr>
        <p:spPr>
          <a:xfrm>
            <a:off x="621792" y="5532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B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物流だけ束ねる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621792" y="581558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当社2蔵は当社経由、他社蔵はtheSFCへ直。商流は分かれたままコンテナだけ1本にする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023360" y="5504688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07" name="Text 105"/>
          <p:cNvSpPr txBox="1"/>
          <p:nvPr/>
        </p:nvSpPr>
        <p:spPr>
          <a:xfrm>
            <a:off x="3543300" y="53218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当社2蔵分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623560" y="5504688"/>
            <a:ext cx="301752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09" name="Text 107"/>
          <p:cNvSpPr txBox="1"/>
          <p:nvPr/>
        </p:nvSpPr>
        <p:spPr>
          <a:xfrm>
            <a:off x="5623560" y="53218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当社経由 1本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023360" y="5650992"/>
            <a:ext cx="461772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0058400" y="5504688"/>
            <a:ext cx="182880" cy="0"/>
          </a:xfrm>
          <a:prstGeom prst="line">
            <a:avLst/>
          </a:prstGeom>
          <a:noFill/>
          <a:ln w="22225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4023360" y="6309360"/>
            <a:ext cx="17830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113" name="Text 111"/>
          <p:cNvSpPr txBox="1"/>
          <p:nvPr/>
        </p:nvSpPr>
        <p:spPr>
          <a:xfrm>
            <a:off x="4023360" y="64282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集荷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7086600" y="6309360"/>
            <a:ext cx="1828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115" name="Text 113"/>
          <p:cNvSpPr txBox="1"/>
          <p:nvPr/>
        </p:nvSpPr>
        <p:spPr>
          <a:xfrm>
            <a:off x="6606540" y="64282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混載 1コンテナ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8458200" y="6309360"/>
            <a:ext cx="1783080" cy="0"/>
          </a:xfrm>
          <a:prstGeom prst="line">
            <a:avLst/>
          </a:prstGeom>
          <a:noFill/>
          <a:ln w="22225">
            <a:solidFill>
              <a:srgbClr val="3F6B7A"/>
            </a:solidFill>
            <a:prstDash val="dash"/>
            <a:tailEnd type="triangle"/>
          </a:ln>
        </p:spPr>
      </p:sp>
      <p:sp>
        <p:nvSpPr>
          <p:cNvPr id="117" name="Shape 115"/>
          <p:cNvSpPr/>
          <p:nvPr/>
        </p:nvSpPr>
        <p:spPr>
          <a:xfrm>
            <a:off x="2834640" y="5724144"/>
            <a:ext cx="1143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2834640" y="57698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各蔵</a:t>
            </a:r>
            <a:endParaRPr lang="en-US" sz="850" dirty="0"/>
          </a:p>
        </p:txBody>
      </p:sp>
      <p:sp>
        <p:nvSpPr>
          <p:cNvPr id="119" name="Text 117"/>
          <p:cNvSpPr txBox="1"/>
          <p:nvPr/>
        </p:nvSpPr>
        <p:spPr>
          <a:xfrm>
            <a:off x="2862072" y="5943600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4〜5社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4251960" y="5724144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4251960" y="57698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新日本海商事</a:t>
            </a:r>
            <a:endParaRPr lang="en-US" sz="850" dirty="0"/>
          </a:p>
        </p:txBody>
      </p:sp>
      <p:sp>
        <p:nvSpPr>
          <p:cNvPr id="122" name="Text 120"/>
          <p:cNvSpPr txBox="1"/>
          <p:nvPr/>
        </p:nvSpPr>
        <p:spPr>
          <a:xfrm>
            <a:off x="4279392" y="594360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当社2蔵分のみ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5852160" y="5724144"/>
            <a:ext cx="1188720" cy="457200"/>
          </a:xfrm>
          <a:prstGeom prst="rect">
            <a:avLst/>
          </a:prstGeom>
          <a:solidFill>
            <a:srgbClr val="3F6B7A"/>
          </a:solidFill>
          <a:ln w="12700">
            <a:solidFill>
              <a:srgbClr val="3F6B7A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852160" y="57698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フォワーダー</a:t>
            </a:r>
            <a:endParaRPr lang="en-US" sz="850" dirty="0"/>
          </a:p>
        </p:txBody>
      </p:sp>
      <p:sp>
        <p:nvSpPr>
          <p:cNvPr id="125" name="Text 123"/>
          <p:cNvSpPr txBox="1"/>
          <p:nvPr/>
        </p:nvSpPr>
        <p:spPr>
          <a:xfrm>
            <a:off x="5879592" y="594360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1社が集荷・混載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7315200" y="5724144"/>
            <a:ext cx="1097280" cy="457200"/>
          </a:xfrm>
          <a:prstGeom prst="rect">
            <a:avLst/>
          </a:prstGeom>
          <a:solidFill>
            <a:srgbClr val="3F6B7A"/>
          </a:solidFill>
          <a:ln w="12700">
            <a:solidFill>
              <a:srgbClr val="3F6B7A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7315200" y="57698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輸出通関</a:t>
            </a:r>
            <a:endParaRPr lang="en-US" sz="850" dirty="0"/>
          </a:p>
        </p:txBody>
      </p:sp>
      <p:sp>
        <p:nvSpPr>
          <p:cNvPr id="128" name="Text 126"/>
          <p:cNvSpPr txBox="1"/>
          <p:nvPr/>
        </p:nvSpPr>
        <p:spPr>
          <a:xfrm>
            <a:off x="7342632" y="594360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申告 2本以上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8686800" y="5724144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8686800" y="57698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輸入代理店</a:t>
            </a:r>
            <a:endParaRPr lang="en-US" sz="850" dirty="0"/>
          </a:p>
        </p:txBody>
      </p:sp>
      <p:sp>
        <p:nvSpPr>
          <p:cNvPr id="131" name="Text 129"/>
          <p:cNvSpPr txBox="1"/>
          <p:nvPr/>
        </p:nvSpPr>
        <p:spPr>
          <a:xfrm>
            <a:off x="8714232" y="594360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theSFCグループ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10287000" y="5724144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0287000" y="57698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theSFC</a:t>
            </a:r>
            <a:endParaRPr lang="en-US" sz="850" dirty="0"/>
          </a:p>
        </p:txBody>
      </p:sp>
      <p:sp>
        <p:nvSpPr>
          <p:cNvPr id="134" name="Text 132"/>
          <p:cNvSpPr txBox="1"/>
          <p:nvPr/>
        </p:nvSpPr>
        <p:spPr>
          <a:xfrm>
            <a:off x="10314432" y="5943600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シンガポール</a:t>
            </a:r>
            <a:endParaRPr lang="en-US" sz="750" dirty="0"/>
          </a:p>
        </p:txBody>
      </p:sp>
      <p:sp>
        <p:nvSpPr>
          <p:cNvPr id="135" name="Text 133"/>
          <p:cNvSpPr txBox="1"/>
          <p:nvPr/>
        </p:nvSpPr>
        <p:spPr>
          <a:xfrm>
            <a:off x="457200" y="651052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通関の名義は商流に従属する　—　輸出者になれるのは売主であり、フォワーダーは名義を貸せない。だから読みB TO-BE では、コンテナを1本にしても申告は1本にならない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2026-09-01T05:21:22Z</dcterms:created>
  <dcterms:modified xsi:type="dcterms:W3CDTF">2026-09-01T05:21:22Z</dcterms:modified>
</cp:coreProperties>
</file>
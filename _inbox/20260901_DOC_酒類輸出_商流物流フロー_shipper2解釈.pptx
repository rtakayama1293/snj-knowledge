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shipper ＝ 荷主（輸出者）と読む場合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2834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26-09-01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11292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先方が求めているのは「4〜5蔵を束ねて自ら売り、輸出者になる会社」という読み　／　前提：当社は大和川・天鏡をtheSFCへ販売する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402336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932688" y="960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商流：当社が入る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060704"/>
            <a:ext cx="402336" cy="0"/>
          </a:xfrm>
          <a:prstGeom prst="line">
            <a:avLst/>
          </a:prstGeom>
          <a:noFill/>
          <a:ln w="22225">
            <a:solidFill>
              <a:srgbClr val="8C858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127248" y="960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5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商流：当社が入らない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060704"/>
            <a:ext cx="402336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870448" y="960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物流（モノの流れ）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0" y="960120"/>
            <a:ext cx="365760" cy="201168"/>
          </a:xfrm>
          <a:prstGeom prst="rect">
            <a:avLst/>
          </a:prstGeom>
          <a:solidFill>
            <a:srgbClr val="FBF3F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960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朱枠＝当社が販売に関与する蔵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298448"/>
            <a:ext cx="11292840" cy="2468880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14081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AS-IS　現状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160934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当社分は立つが、他社蔵が立たない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157984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大和川・天鏡は当社が売るので商流も輸出者も決まっている。決まっていないのは他社蔵2〜3社の分で、各蔵が自ら輸出者を務めることになるが引き受け手がいない。物流を仕立てる人もいない。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97680" y="1645920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749040" y="14630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97880" y="1645920"/>
            <a:ext cx="33832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897880" y="14630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当社が輸出者・1本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607040" y="1645920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97680" y="1938528"/>
            <a:ext cx="4983480" cy="0"/>
          </a:xfrm>
          <a:prstGeom prst="line">
            <a:avLst/>
          </a:prstGeom>
          <a:noFill/>
          <a:ln w="22225">
            <a:solidFill>
              <a:srgbClr val="8C858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297680" y="17556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85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他社蔵は直・2〜3本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97680" y="3364992"/>
            <a:ext cx="33832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297680" y="35204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各蔵が個別に出荷。小口のまま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98280" y="3364992"/>
            <a:ext cx="169164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34640" y="2139696"/>
            <a:ext cx="1417320" cy="475488"/>
          </a:xfrm>
          <a:prstGeom prst="rect">
            <a:avLst/>
          </a:prstGeom>
          <a:solidFill>
            <a:srgbClr val="FBF3F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62072" y="218541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大和川・天鏡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871216" y="236829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当社が販売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834640" y="2688336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62072" y="273405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他社蔵 2〜3社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871216" y="29169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当社は絡まない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26280" y="2139696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3712" y="218541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新日本海商事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562856" y="2368296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輸出者（大和川・天鏡分）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26480" y="2139696"/>
            <a:ext cx="1325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DB6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6153912" y="23957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94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フォワーダー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163056" y="257860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9B94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不在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726680" y="2139696"/>
            <a:ext cx="1325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54112" y="23957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輸出通関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7763256" y="257860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申告 当社1本＋各蔵2〜3本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326880" y="2139696"/>
            <a:ext cx="12344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354312" y="239572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輸入代理店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9363456" y="2578608"/>
            <a:ext cx="1161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theSFCグループ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835640" y="2139696"/>
            <a:ext cx="914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863072" y="239572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theSFC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10872216" y="257860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7200" y="3913632"/>
            <a:ext cx="11292840" cy="2468880"/>
          </a:xfrm>
          <a:prstGeom prst="rect">
            <a:avLst/>
          </a:prstGeom>
          <a:solidFill>
            <a:srgbClr val="FBF3F1"/>
          </a:solidFill>
          <a:ln w="12700">
            <a:solidFill>
              <a:srgbClr val="FBF3F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1792" y="4023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TO-BE　読みAへの答え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621792" y="422452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当社が4〜5蔵すべてを束ねる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21792" y="4773168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他社蔵の分も当社が仕入れて売る。商流も輸出申告も1本になり、先方が求める「束ねる輸出者」を当社が務める形。当社は他社蔵の仕入口座と与信を持つことになる。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297680" y="4261104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3749040" y="40782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4〜5蔵すべてを仕入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897880" y="4261104"/>
            <a:ext cx="33832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5897880" y="407822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1本にまとまる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607040" y="4261104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297680" y="5980176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4297680" y="6135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集荷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98080" y="5980176"/>
            <a:ext cx="1828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6949440" y="61356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混載 1コンテナ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098280" y="5980176"/>
            <a:ext cx="169164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834640" y="4754880"/>
            <a:ext cx="1417320" cy="475488"/>
          </a:xfrm>
          <a:prstGeom prst="rect">
            <a:avLst/>
          </a:prstGeom>
          <a:solidFill>
            <a:srgbClr val="FBF3F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862072" y="480060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大和川・天鏡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2871216" y="498348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当社が販売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834640" y="5303520"/>
            <a:ext cx="1417320" cy="475488"/>
          </a:xfrm>
          <a:prstGeom prst="rect">
            <a:avLst/>
          </a:prstGeom>
          <a:solidFill>
            <a:srgbClr val="FBF3F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862072" y="534924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他社蔵 2〜3社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2871216" y="553212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当社が買い取る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526280" y="4754880"/>
            <a:ext cx="1325880" cy="10241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53712" y="501091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新日本海商事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4562856" y="519379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輸出者・売主（4〜5蔵すべて）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126480" y="4754880"/>
            <a:ext cx="1325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153912" y="501091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フォワーダー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6163056" y="519379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当社指定・1コンテナ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726680" y="4754880"/>
            <a:ext cx="1325880" cy="10241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54112" y="501091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輸出通関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7763256" y="519379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申告 1本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326880" y="4754880"/>
            <a:ext cx="12344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354312" y="501091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輸入代理店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9363456" y="5193792"/>
            <a:ext cx="1161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theSFCグループ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0835640" y="4754880"/>
            <a:ext cx="914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863072" y="501091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theSFC</a:t>
            </a:r>
            <a:endParaRPr lang="en-US" sz="850" dirty="0"/>
          </a:p>
        </p:txBody>
      </p:sp>
      <p:sp>
        <p:nvSpPr>
          <p:cNvPr id="82" name="Text 80"/>
          <p:cNvSpPr txBox="1"/>
          <p:nvPr/>
        </p:nvSpPr>
        <p:spPr>
          <a:xfrm>
            <a:off x="10872216" y="519379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457200" y="6455664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詰まっているのは他社蔵2〜3社の輸出者。当社が大和川・天鏡で既にやっていることを、残りの蔵まで広げるかどうかの判断になる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shipper ＝ フォワーダー（物流手配者）と読む場合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2834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26-09-01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11292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先方が求めているのは「4〜5蔵から集荷して混載し、輸出通関を代行する物流会社」という読み　／　前提：当社は大和川・天鏡をtheSFCへ販売する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402336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932688" y="960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商流：当社が入る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060704"/>
            <a:ext cx="402336" cy="0"/>
          </a:xfrm>
          <a:prstGeom prst="line">
            <a:avLst/>
          </a:prstGeom>
          <a:noFill/>
          <a:ln w="22225">
            <a:solidFill>
              <a:srgbClr val="8C858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127248" y="960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5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商流：当社が入らない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060704"/>
            <a:ext cx="402336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870448" y="9601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物流（モノの流れ）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0" y="960120"/>
            <a:ext cx="365760" cy="201168"/>
          </a:xfrm>
          <a:prstGeom prst="rect">
            <a:avLst/>
          </a:prstGeom>
          <a:solidFill>
            <a:srgbClr val="FBF3F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960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朱枠＝当社が販売に関与する蔵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298448"/>
            <a:ext cx="11292840" cy="2468880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14081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AS-IS　現状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160934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商流は立つが、運賃が高い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157984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大和川・天鏡は当社経由、他社蔵はtheSFCへ直。商流はどちらも成立しうる。詰まっているのは物流で、手が挙がるのが定温リーファー定期便を持つ1社だけ。その見積が高い。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97680" y="1645920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749040" y="14630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97880" y="1645920"/>
            <a:ext cx="33832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897880" y="14630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当社が輸出者・1本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607040" y="1645920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97680" y="1938528"/>
            <a:ext cx="4983480" cy="0"/>
          </a:xfrm>
          <a:prstGeom prst="line">
            <a:avLst/>
          </a:prstGeom>
          <a:noFill/>
          <a:ln w="22225">
            <a:solidFill>
              <a:srgbClr val="8C858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297680" y="175564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85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他社蔵は直・2〜3本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97680" y="3364992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297680" y="35204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集荷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98080" y="3364992"/>
            <a:ext cx="1828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949440" y="3520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混載はできる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98280" y="3364992"/>
            <a:ext cx="169164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834640" y="2139696"/>
            <a:ext cx="1417320" cy="475488"/>
          </a:xfrm>
          <a:prstGeom prst="rect">
            <a:avLst/>
          </a:prstGeom>
          <a:solidFill>
            <a:srgbClr val="FBF3F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62072" y="218541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大和川・天鏡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2871216" y="236829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当社が販売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34640" y="2688336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62072" y="2734056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他社蔵 2〜3社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2871216" y="29169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当社は絡まない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26280" y="2139696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53712" y="218541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新日本海商事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562856" y="2368296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輸出者（大和川・天鏡分）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26480" y="2139696"/>
            <a:ext cx="1325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53912" y="23957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フォワーダー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163056" y="257860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定温リーファー定期便　1社のみ・高い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726680" y="2139696"/>
            <a:ext cx="1325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54112" y="23957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輸出通関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7763256" y="257860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申告 当社1本＋各蔵2〜3本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326880" y="2139696"/>
            <a:ext cx="12344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54312" y="239572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輸入代理店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363456" y="2578608"/>
            <a:ext cx="1161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theSFCグループ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835640" y="2139696"/>
            <a:ext cx="914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863072" y="239572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theSFC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0872216" y="257860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" y="3913632"/>
            <a:ext cx="11292840" cy="2468880"/>
          </a:xfrm>
          <a:prstGeom prst="rect">
            <a:avLst/>
          </a:prstGeom>
          <a:solidFill>
            <a:srgbClr val="F0F5F7"/>
          </a:solidFill>
          <a:ln w="12700">
            <a:solidFill>
              <a:srgbClr val="F0F5F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1792" y="4023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TO-BE　読みBへの答え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" y="422452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F6B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物流だけ束ね直す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21792" y="4773168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商流はAS-ISのまま動かさず、相見積で選び直したフォワーダーが集荷・混載する。運賃は下がるが、商流が分かれている以上、輸出申告は分かれたまま残る。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297680" y="4261104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3749040" y="40782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仕入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97880" y="4261104"/>
            <a:ext cx="33832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5897880" y="407822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当社が輸出者・1本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607040" y="4261104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297680" y="4553712"/>
            <a:ext cx="4983480" cy="0"/>
          </a:xfrm>
          <a:prstGeom prst="line">
            <a:avLst/>
          </a:prstGeom>
          <a:noFill/>
          <a:ln w="22225">
            <a:solidFill>
              <a:srgbClr val="8C8580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4297680" y="437083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85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他社蔵は直・2〜3本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297680" y="5980176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4297680" y="6135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集荷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0" y="5980176"/>
            <a:ext cx="1828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6949440" y="61356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混載 1コンテナ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098280" y="5980176"/>
            <a:ext cx="169164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2834640" y="4754880"/>
            <a:ext cx="1417320" cy="475488"/>
          </a:xfrm>
          <a:prstGeom prst="rect">
            <a:avLst/>
          </a:prstGeom>
          <a:solidFill>
            <a:srgbClr val="FBF3F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862072" y="480060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大和川・天鏡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2871216" y="498348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当社が販売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834640" y="5303520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862072" y="534924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他社蔵 2〜3社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2871216" y="553212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当社は絡まない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26280" y="475488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553712" y="480060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新日本海商事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4562856" y="498348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輸出者（大和川・天鏡分）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126480" y="4754880"/>
            <a:ext cx="1325880" cy="1024128"/>
          </a:xfrm>
          <a:prstGeom prst="rect">
            <a:avLst/>
          </a:prstGeom>
          <a:solidFill>
            <a:srgbClr val="3F6B7A"/>
          </a:solidFill>
          <a:ln w="12700">
            <a:solidFill>
              <a:srgbClr val="3F6B7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153912" y="501091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フォワーダー</a:t>
            </a:r>
            <a:endParaRPr 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6163056" y="519379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相見積で選定・1コンテナ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726680" y="4754880"/>
            <a:ext cx="1325880" cy="1024128"/>
          </a:xfrm>
          <a:prstGeom prst="rect">
            <a:avLst/>
          </a:prstGeom>
          <a:solidFill>
            <a:srgbClr val="3F6B7A"/>
          </a:solidFill>
          <a:ln w="12700">
            <a:solidFill>
              <a:srgbClr val="3F6B7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754112" y="501091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輸出通関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7763256" y="519379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申告 当社1本＋各蔵2〜3本（変わらず）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326880" y="4754880"/>
            <a:ext cx="12344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354312" y="501091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輸入代理店</a:t>
            </a:r>
            <a:endParaRPr 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9363456" y="5193792"/>
            <a:ext cx="1161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theSFCグループ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0835640" y="4754880"/>
            <a:ext cx="914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863072" y="501091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theSFC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10872216" y="519379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457200" y="6455664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こちらの読みなら当社が新たに背負うものはない。ただし輸出申告は当社1本＋各蔵2〜3本のままで、蔵側の輸出者負担は残る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2026-09-01T05:29:26Z</dcterms:created>
  <dcterms:modified xsi:type="dcterms:W3CDTF">2026-09-01T05:29:26Z</dcterms:modified>
</cp:coreProperties>
</file>